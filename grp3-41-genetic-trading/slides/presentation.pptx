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Stratégies de Trading par Algorithmes Génétiques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9900"/>
                </a:solidFill>
              </a:defRPr>
            </a:pPr>
            <a:r>
              <a:t>Projet ECE - Groupe 3 - Sujet n°41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5355" y="4389120"/>
            <a:ext cx="5260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PETIT</a:t>
            </a:r>
            <a:r>
              <a:rPr lang="fr-FR" dirty="0"/>
              <a:t> Paul</a:t>
            </a:r>
            <a:r>
              <a:rPr dirty="0"/>
              <a:t> • PASQUINELLI</a:t>
            </a:r>
            <a:r>
              <a:rPr lang="fr-FR" dirty="0"/>
              <a:t> Louis</a:t>
            </a:r>
            <a:r>
              <a:rPr dirty="0"/>
              <a:t> • POULET</a:t>
            </a:r>
            <a:r>
              <a:rPr lang="fr-FR" dirty="0"/>
              <a:t> Benoit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2 février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68877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1. </a:t>
            </a:r>
            <a:r>
              <a:rPr dirty="0" err="1"/>
              <a:t>Contexte</a:t>
            </a:r>
            <a:r>
              <a:rPr dirty="0"/>
              <a:t> et </a:t>
            </a:r>
            <a:r>
              <a:rPr dirty="0" err="1"/>
              <a:t>problématique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2. </a:t>
            </a:r>
            <a:r>
              <a:rPr dirty="0" err="1"/>
              <a:t>Objectifs</a:t>
            </a:r>
            <a:r>
              <a:rPr dirty="0"/>
              <a:t> du </a:t>
            </a:r>
            <a:r>
              <a:rPr dirty="0" err="1"/>
              <a:t>projet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3. </a:t>
            </a:r>
            <a:r>
              <a:rPr dirty="0" err="1"/>
              <a:t>Algorithmes</a:t>
            </a:r>
            <a:r>
              <a:rPr dirty="0"/>
              <a:t> </a:t>
            </a:r>
            <a:r>
              <a:rPr dirty="0" err="1"/>
              <a:t>génétiques</a:t>
            </a:r>
            <a:r>
              <a:rPr dirty="0"/>
              <a:t> - Principes de 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4. </a:t>
            </a:r>
            <a:r>
              <a:rPr dirty="0" err="1"/>
              <a:t>Encodage</a:t>
            </a:r>
            <a:r>
              <a:rPr dirty="0"/>
              <a:t> des </a:t>
            </a:r>
            <a:r>
              <a:rPr dirty="0" err="1"/>
              <a:t>stratégies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chromosomes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5. </a:t>
            </a:r>
            <a:r>
              <a:rPr dirty="0" err="1"/>
              <a:t>Fonction</a:t>
            </a:r>
            <a:r>
              <a:rPr dirty="0"/>
              <a:t> fitness multi-</a:t>
            </a:r>
            <a:r>
              <a:rPr dirty="0" err="1"/>
              <a:t>objectifs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6. </a:t>
            </a:r>
            <a:r>
              <a:rPr dirty="0" err="1"/>
              <a:t>Opérateurs</a:t>
            </a:r>
            <a:r>
              <a:rPr dirty="0"/>
              <a:t> </a:t>
            </a:r>
            <a:r>
              <a:rPr dirty="0" err="1"/>
              <a:t>génétiques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7. Walk-forward testing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8. Architecture technique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9. Technologies </a:t>
            </a:r>
            <a:r>
              <a:rPr dirty="0" err="1"/>
              <a:t>utilisées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10. </a:t>
            </a:r>
            <a:r>
              <a:rPr dirty="0" err="1"/>
              <a:t>Implémentation</a:t>
            </a:r>
            <a:r>
              <a:rPr dirty="0"/>
              <a:t> - Structure du code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11. </a:t>
            </a:r>
            <a:r>
              <a:rPr dirty="0" err="1"/>
              <a:t>Résultats</a:t>
            </a:r>
            <a:r>
              <a:rPr dirty="0"/>
              <a:t> et performances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12. </a:t>
            </a:r>
            <a:r>
              <a:rPr dirty="0" err="1"/>
              <a:t>Avantages</a:t>
            </a:r>
            <a:r>
              <a:rPr dirty="0"/>
              <a:t> et </a:t>
            </a:r>
            <a:r>
              <a:rPr dirty="0" err="1"/>
              <a:t>limites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13. Perspectives et </a:t>
            </a:r>
            <a:r>
              <a:rPr dirty="0" err="1"/>
              <a:t>améliorations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14.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Contexte et Problématique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Contexte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Les marchés financiers sont complexes et dynamiques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Les stratégies de trading traditionnelles nécessitent une optimisation manuelle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L'automatisation du trading devient incontournable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L'espace de recherche des paramètres est immense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Problématique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Comment développer des stratégies de trading performantes et robustes en utilisant des algorithmes génétiques pour optimiser automatiquement les paramètres de trading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Objectifs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Objectifs Principaux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Implémenter un algorithme génétique pour l'optimisation de stratégies de trading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Développer une fonction d'évaluation (fitness) multi-objectifs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Intégrer un système de backtesting réaliste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Éviter le sur-ajustement (overfitting) via le walk-forward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Objectifs Secondaires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Comparer les performances avec des stratégies de référence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Analyser la robustesse des stratégies générées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Documenter l'approche et les résultats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Visualiser les résultats de manière claire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Algorithmes Génétiques - Principes de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0066CC"/>
                </a:solidFill>
              </a:defRPr>
            </a:pPr>
            <a:r>
              <a:t>Inspiré de la sélection naturelle (Darwin)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Population initiale → Évaluation → Sélection → Croisement → Mutation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Concepts Clés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Population : Ensemble de solutions candidates (stratégies de trading)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Individu : Une solution candidate (une stratégie de trading spécifique)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Génération : Itération de l'algorithme génétique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Fitness : Qualité d'une solution (performance de la stratégie)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Chromosome : Représentation encodée d'une stratégie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Gènes : Paramètres individuels de la stratégie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Encodage des Stratégies comme Chromosomes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Structure d'un Chromosome (10 gènes)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0: SMA court [5, 50] - Période de la moyenne mobile courte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1: SMA long [10, 200] - Période de la moyenne mobile longue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2: EMA période [5, 50] - Période de l'EMA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3: RSI période [5, 30] - Période du RSI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4: RSI survente [10, 40] - Seuil de survente RSI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5: RSI surachat [60, 90] - Seuil de surachat RSI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6: MACD rapide [5, 20] - Période rapide du MACD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7: MACD lent [15, 50] - Période lente du MACD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8: MACD signal [5, 15] - Période du signal MACD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</a:defRPr>
            </a:pPr>
            <a:r>
              <a:t>Gène 9: Stop loss % [1, 20] - Pourcentage de stop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66CC"/>
                </a:solidFill>
              </a:defRPr>
            </a:pPr>
            <a:r>
              <a:rPr dirty="0" err="1"/>
              <a:t>Indicateurs</a:t>
            </a:r>
            <a:r>
              <a:rPr dirty="0"/>
              <a:t> Techniques </a:t>
            </a:r>
            <a:r>
              <a:rPr dirty="0" err="1"/>
              <a:t>Implémentés</a:t>
            </a:r>
            <a:endParaRPr dirty="0"/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• SMA (Simple Moving Average)  • EMA (Exponential Moving Average)  • RSI (Relative Strength Index)  • MACD (Moving Average Convergence Divergence)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Fonction Fitness Multi-Objectifs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66CC"/>
                </a:solidFill>
              </a:defRPr>
            </a:pPr>
            <a:r>
              <a:t>Critères d'Évaluation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Return (30%) : Rendement total de la stratégie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Sharpe Ratio (25%) : Rendement ajusté au risque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Max Drawdown (20%) : Perte maximale (à minimiser)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Win Rate (15%) : Taux de trades gagnants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Stabilité (10%) : Consistance des performances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2623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rPr dirty="0"/>
              <a:t>Fitness = w₁ × Return + w₂ × Sharpe - w₃ × Drawdown + w₄ × </a:t>
            </a:r>
            <a:r>
              <a:rPr dirty="0" err="1"/>
              <a:t>WinRate</a:t>
            </a:r>
            <a:r>
              <a:rPr dirty="0"/>
              <a:t> + w₅ × </a:t>
            </a:r>
            <a:r>
              <a:rPr dirty="0" err="1"/>
              <a:t>Stabilité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33333"/>
                </a:solidFill>
              </a:defRPr>
            </a:pPr>
            <a:r>
              <a:t>Note : Le drawdown est soustrait car il représente une perte à minimiser. Les poids peuvent être ajustés selon les préférences de l'investisseur.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Opérateurs Génétiques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1. Sélection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Sélection par tournoi 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Compétition entre k individus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Sélection par roulette 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Probabilité proportionnelle à la fitness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Élitisme 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Conservation des meilleurs individus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2. Croisement (Crossover)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Croisement à un point 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Échange de segments de chromosomes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Croisement uniforme 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Échange gène par gène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Taux de croisement 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70-90% (typique)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3. Mutation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Modification aléatoire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d'un gène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Mutation gaussienne 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Variation continue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Taux de mutation 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1-5% (typique)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• Permet d'explorer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  <a:r>
              <a:t>  de nouvelles solutions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Walk-Forward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CC0000"/>
                </a:solidFill>
              </a:defRPr>
            </a:pPr>
            <a:r>
              <a:t>Problème du Curve-Fitting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Sur-ajustement aux données historiques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Performances irréalistes en production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Stratégies non robustes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9900"/>
                </a:solidFill>
              </a:defRPr>
            </a:pPr>
            <a:r>
              <a:t>Solution : Walk-Forward Testing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Division en périodes train/test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Validation sur données non utilisées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Simulation conditions réelles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rPr dirty="0"/>
              <a:t>Train 2020 → Test 2021 → Train 2021 → Test 2022 → Train 2022 → Test 2023</a:t>
            </a:r>
          </a:p>
          <a:p>
            <a:pPr algn="ctr">
              <a:defRPr sz="1600">
                <a:solidFill>
                  <a:srgbClr val="0066CC"/>
                </a:solidFill>
              </a:defRPr>
            </a:pPr>
            <a:r>
              <a:rPr dirty="0"/>
              <a:t>← </a:t>
            </a:r>
            <a:r>
              <a:rPr dirty="0" err="1"/>
              <a:t>Optimisation</a:t>
            </a:r>
            <a:r>
              <a:rPr dirty="0"/>
              <a:t> → ← Validation → ← </a:t>
            </a:r>
            <a:r>
              <a:rPr dirty="0" err="1"/>
              <a:t>Optimisation</a:t>
            </a:r>
            <a:r>
              <a:rPr dirty="0"/>
              <a:t> → ← Validation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66CC"/>
                </a:solidFill>
              </a:defRPr>
            </a:pPr>
            <a:r>
              <a:t>Avantages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Simule des conditions réelles de trading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Évalue la robustesse temporelle des stratégies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Réduit significativement le risque d'overfitting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Fournit une estimation plus réaliste des performances futures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Data Loader → Genetic Algorithm → Backtester → Fitness Calculator</a:t>
            </a:r>
          </a:p>
          <a:p>
            <a:pPr algn="ctr">
              <a:defRPr sz="1800">
                <a:solidFill>
                  <a:srgbClr val="0066CC"/>
                </a:solidFill>
              </a:defRPr>
            </a:pPr>
            <a:r>
              <a:t>      ↓                ↓                  ↓                  ↓</a:t>
            </a:r>
          </a:p>
          <a:p>
            <a:pPr algn="ctr">
              <a:defRPr sz="1800">
                <a:solidFill>
                  <a:srgbClr val="0066CC"/>
                </a:solidFill>
              </a:defRPr>
            </a:pPr>
            <a:r>
              <a:t>Données      Population        Résultats        Métriques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36289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66CC"/>
                </a:solidFill>
              </a:defRPr>
            </a:pPr>
            <a:r>
              <a:t>Modules Principaux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data_loader.py : Chargement et prétraitement des données financières (Yahoo Finance, CSV, données simulées)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genetic_algorithm.py : Implémentation de l'algorithme génétique (sélection, croisement, mutation, élitisme)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trading_strategy.py : Encodage des stratégies et calcul des indicateurs techniques (SMA, EMA, RSI, MACD)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backtester.py : Simulation des trades avec commissions, slippage et stop loss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fitness.py : Calcul de la fonction d'évaluation multi-objectifs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visualizer.py : Génération des graphiques et visualisations des résultats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Stack Technique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Python 3.10+ : Langage principal de développement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DEAP : Framework d'algorithmes évolutifs pour l'implémentation génétique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Backtrader : Framework de backtesting de stratégies de trading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TA-Lib : Bibliothèque d'analyse technique avec 150+ indicateurs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Pandas : Manipulation et analyse de données financières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NumPy : Calculs numériques performants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Matplotlib : Graphiques et visualisations des résultats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yfinance : API pour récupérer les données de marché depuis Yahoo Finance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Jupyter Notebook : Environnement de développement interactif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Implémentation - Structure du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grp3-41-genetic-trading/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├── src/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├── main.py              : Point d'entrée principal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├── data_loader.py       : Chargement des données financières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├── genetic_algorithm.py : Algorithme génétique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├── trading_strategy.py  : Stratégies et indicateurs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├── backtester.py        : Moteur de backtesting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├── fitness.py           : Fonction d'évaluation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└── visualizer.py        : Visualisations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├── notebooks/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└── demo.ipynb           : Notebook de démonstration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├── docs/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└── TECHNICAL_REPORT.md  : Documentation technique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├── slides/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│   └── presentation.pptx    : Présentation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└── requirements.txt         : Dépendances Python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Résultats et Performances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66CC"/>
                </a:solidFill>
              </a:defRPr>
            </a:pPr>
            <a:r>
              <a:t>Métriques de Performance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Total Return : Rendement cumulé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Annualized Return : Rendement annualisé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Sharpe Ratio : Ratio de Sharpe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Max Drawdown : Drawdown maximum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Win Rate : Taux de réussite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Profit Factor : Facteur de profit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Total Trades : Nombre total de trades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Average Trade : Trade moyen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66CC"/>
                </a:solidFill>
              </a:defRPr>
            </a:pPr>
            <a:r>
              <a:t>Observations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L'algorithme génétique converge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vers des solutions optimales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Les stratégies générées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sont diversifiées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walk-forward testing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valide la robustesse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Les performances sont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comparables aux stratégies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de référence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Avantages et Limites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9900"/>
                </a:solidFill>
              </a:defRPr>
            </a:pPr>
            <a:r>
              <a:t>✅ Avantages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Exploration automatique de l'espace de recherche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Capacité à trouver des solutions non évidentes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Adaptation aux conditions de marché changeantes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Fonction fitness multi-objectifs flexible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Walk-forward testing réduit l'overfitting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Code modulaire et extensible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Visualisation claire des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CC0000"/>
                </a:solidFill>
              </a:defRPr>
            </a:pPr>
            <a:r>
              <a:t>⚠️ Limites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Temps de calcul potentiellement long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Sensibilité aux paramètres de l'AG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Risque résiduel d'overfitting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Dépendance à la qualité des données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Performance passée ≠ performance future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Nécessite une expertise financière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Coûts de transaction non négligeables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Perspectives et Améliorations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Pistes d'Amélioration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Ajouter plus d'indicateurs techniques (Bollinger Bands, Stochastic, ATR, etc.)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Implémenter des algorithmes génétiques multi-objectifs (NSGA-II, SPEA2)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Intégrer le machine learning pour prédire les signaux de marché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Optimiser les paramètres du marché (stop loss, take profit, position sizing)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Tester sur différents marchés (actions, forex, crypto, commodities)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Implémenter le trading multi-actifs et multi-stratégies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Ajouter des contraintes de risque (VaR, CVaR)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Utiliser le calcul parallèle pour accélérer l'optimisation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Intégrer des données fondamentales et sentimentales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Déployer en production avec un système de monitoring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Points Clés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Les algorithmes génétiques sont une approche efficace pour l'optimisation de stratégies de trading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L'encodage des stratégies comme chromosomes permet une exploration flexible de l'espace de recherche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La fonction fitness multi-objectifs évalue les stratégies selon plusieurs critères de performance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Le walk-forward testing est essentiel pour éviter le sur-ajustement et valider la robustesse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L'implémentation modulaire facilite l'extension et la maintenance du code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Les résultats montrent que l'approche génétique peut générer des stratégies compétitives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/ Réponses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9900"/>
                </a:solidFill>
              </a:defRPr>
            </a:pPr>
            <a:r>
              <a:t>Merci de votre attention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Projet ECE - Groupe 3 - Sujet n°41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1557</Words>
  <Application>Microsoft Office PowerPoint</Application>
  <PresentationFormat>Widescreen</PresentationFormat>
  <Paragraphs>221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Benoit POULET</cp:lastModifiedBy>
  <cp:revision>3</cp:revision>
  <dcterms:created xsi:type="dcterms:W3CDTF">2013-01-27T09:14:16Z</dcterms:created>
  <dcterms:modified xsi:type="dcterms:W3CDTF">2026-02-01T22:47:03Z</dcterms:modified>
  <cp:category/>
</cp:coreProperties>
</file>